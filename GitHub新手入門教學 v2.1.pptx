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28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  <Relationship Id="rId28" Type="http://schemas.openxmlformats.org/officeDocument/2006/relationships/slide" Target="slides/slide2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17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1188720" cy="45720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05840"/>
            <a:ext cx="274320" cy="118872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463040"/>
            <a:ext cx="365760" cy="100584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2194560"/>
            <a:ext cx="640080" cy="109728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2194560"/>
            <a:ext cx="548640" cy="73152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1463040"/>
            <a:ext cx="274320" cy="182880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37776" y="95097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9" name="Shape 7"/>
          <p:cNvSpPr/>
          <p:nvPr/>
        </p:nvSpPr>
        <p:spPr>
          <a:xfrm>
            <a:off x="10826496" y="1408176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0" name="Shape 8"/>
          <p:cNvSpPr/>
          <p:nvPr/>
        </p:nvSpPr>
        <p:spPr>
          <a:xfrm>
            <a:off x="9912096" y="213969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1" name="Shape 9"/>
          <p:cNvSpPr/>
          <p:nvPr/>
        </p:nvSpPr>
        <p:spPr>
          <a:xfrm>
            <a:off x="11192256" y="2414016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52176" y="323697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63456" y="2871216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432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新手入門教學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從版本控制到第一次參與開源專案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005840" cy="0"/>
          </a:xfrm>
          <a:prstGeom prst="line">
            <a:avLst/>
          </a:prstGeom>
          <a:noFill/>
          <a:ln w="38100">
            <a:solidFill>
              <a:srgbClr val="8250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今天你會學到什麼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965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Git、GitHub 與 Open Source 的差別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42616"/>
            <a:ext cx="9692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8072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6148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上最常見的名詞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483864"/>
            <a:ext cx="9692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48456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6484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02736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如何閱讀一個開源專案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325112"/>
            <a:ext cx="9692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489704"/>
            <a:ext cx="502920" cy="50292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4897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43984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→ 修改 → Pull Request 的基本流程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9692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330952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533095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8523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如何開始你的第一次開源貢獻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先搞懂：Git ≠ GitHub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F1E9FD"/>
          </a:solidFill>
          <a:ln/>
          <a:effectLst>
            <a:outerShdw blurRad="101600" dist="25400" dir="5400000" algn="bl" rotWithShape="0">
              <a:srgbClr val="1F23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777240" cy="7772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5146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4747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069080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一套「版本控制系統」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記錄檔案變更、追蹤歷史，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方便多人協作。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210312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DAFBE1"/>
          </a:solidFill>
          <a:ln/>
          <a:effectLst>
            <a:outerShdw blurRad="101600" dist="25400" dir="5400000" algn="bl" rotWithShape="0">
              <a:srgbClr val="1F232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514600"/>
            <a:ext cx="777240" cy="7772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5146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4747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069080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一個「託管 Git 專案的平台」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Repository、協作、Issue、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等功能。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什麼是版本控制？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074920" cy="3840480"/>
          </a:xfrm>
          <a:prstGeom prst="roundRect">
            <a:avLst>
              <a:gd name="adj" fmla="val 2857"/>
            </a:avLst>
          </a:prstGeom>
          <a:solidFill>
            <a:srgbClr val="FFEBE9"/>
          </a:solidFill>
          <a:ln/>
          <a:effectLst>
            <a:outerShdw blurRad="101600" dist="25400" dir="5400000" algn="bl" rotWithShape="0">
              <a:srgbClr val="1F23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CF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😵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774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想像你在寫報告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0175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final.docx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675888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6758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final_v2.docx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334256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33425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final_v2_真的最後版.docx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057400"/>
            <a:ext cx="5074920" cy="3840480"/>
          </a:xfrm>
          <a:prstGeom prst="roundRect">
            <a:avLst>
              <a:gd name="adj" fmla="val 2857"/>
            </a:avLst>
          </a:prstGeom>
          <a:solidFill>
            <a:srgbClr val="DAFBE1"/>
          </a:solidFill>
          <a:ln/>
          <a:effectLst>
            <a:outerShdw blurRad="101600" dist="25400" dir="5400000" algn="bl" rotWithShape="0">
              <a:srgbClr val="1F2328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46520" y="23774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Git 的做法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0175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每次重要修改都留下紀錄（Commit）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可以查看歷史、比較差異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也可以隨時回到之前的版本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是什麼？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可以理解成「程式碼與專案的協作平台」，你可以：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43200"/>
            <a:ext cx="594360" cy="59436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432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儲存專案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23360" y="242316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2743200"/>
            <a:ext cx="594360" cy="59436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7432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公開分享作品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0" y="242316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8120" y="2743200"/>
            <a:ext cx="594360" cy="594360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27432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與其他人共同開發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617720"/>
            <a:ext cx="594360" cy="59436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617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🐞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303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回報問題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023360" y="429768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4617720"/>
            <a:ext cx="594360" cy="59436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97680" y="4617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5303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提交修改建議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98080" y="429768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818120" y="4617720"/>
            <a:ext cx="594360" cy="594360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0" y="4617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5303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參與 Open Source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Repository：專案的家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Repository（Repo）就是一個專案的儲存空間，通常包含：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0149840" cy="603504"/>
          </a:xfrm>
          <a:prstGeom prst="roundRect">
            <a:avLst>
              <a:gd name="adj" fmla="val 12121"/>
            </a:avLst>
          </a:prstGeom>
          <a:solidFill>
            <a:srgbClr val="F6F8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231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原始碼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42316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專案的程式檔案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101498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7296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729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17296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專案介紹與使用方式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10149840" cy="603504"/>
          </a:xfrm>
          <a:prstGeom prst="roundRect">
            <a:avLst>
              <a:gd name="adj" fmla="val 12121"/>
            </a:avLst>
          </a:prstGeom>
          <a:solidFill>
            <a:srgbClr val="F6F8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22776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2277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92277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授權條款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672584"/>
            <a:ext cx="101498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72584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725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467258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貢獻方式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422392"/>
            <a:ext cx="10149840" cy="603504"/>
          </a:xfrm>
          <a:prstGeom prst="roundRect">
            <a:avLst>
              <a:gd name="adj" fmla="val 12121"/>
            </a:avLst>
          </a:prstGeom>
          <a:solidFill>
            <a:srgbClr val="F6F8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422392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4223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其他文件與設定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542239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設定檔、CI、文件等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 5 個名詞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0116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5681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95681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9692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7977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77977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一次有意義的變更紀錄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9692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3657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60273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60273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獨立的開發分支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9692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44805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42569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42569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問題、需求或討論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9692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5303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24865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24865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請求將你的修改合併進專案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Commit：留下變更紀錄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149840" cy="777240"/>
          </a:xfrm>
          <a:prstGeom prst="roundRect">
            <a:avLst>
              <a:gd name="adj" fmla="val 14118"/>
            </a:avLst>
          </a:prstGeom>
          <a:solidFill>
            <a:srgbClr val="F1E9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</a:rPr>
              <a:t>一次 Commit 應該回答：</a:t>
            </a:r>
            <a:r>
              <a:rPr lang="en-US" sz="1500" b="1" dirty="0">
                <a:solidFill>
                  <a:srgbClr val="8250DF"/>
                </a:solidFill>
              </a:rPr>
              <a:t>  「我這次做了什麼？」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DAFBE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971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好的例子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</a:t>
            </a: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typo in README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148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</a:t>
            </a: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login validation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74320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FFEB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971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不好的例子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5204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</a:t>
            </a: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023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</a:t>
            </a: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262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</a:t>
            </a: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Branch：不要直接改主要版本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0" cy="50292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337560"/>
            <a:ext cx="914400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306324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3063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feature/add-login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0149840" cy="1737360"/>
          </a:xfrm>
          <a:prstGeom prst="roundRect">
            <a:avLst>
              <a:gd name="adj" fmla="val 6316"/>
            </a:avLst>
          </a:prstGeom>
          <a:solidFill>
            <a:srgbClr val="F6F8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343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可以讓你在自己的工作空間修改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確認沒問題後，再將變更合併回主要分支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好處：多人可以同時開發不同功能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Open Source？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149840" cy="1737360"/>
          </a:xfrm>
          <a:prstGeom prst="roundRect">
            <a:avLst>
              <a:gd name="adj" fmla="val 6316"/>
            </a:avLst>
          </a:prstGeom>
          <a:solidFill>
            <a:srgbClr val="F1E9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Source（開源）通常指原始碼以公開方式提供，並依授權條款允許他人使用、研究、修改與散布。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0149840" cy="1280160"/>
          </a:xfrm>
          <a:prstGeom prst="roundRect">
            <a:avLst>
              <a:gd name="adj" fmla="val 8571"/>
            </a:avLst>
          </a:prstGeom>
          <a:solidFill>
            <a:srgbClr val="FFEBE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rgbClr val="CF22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160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8862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</a:rPr>
              <a:t>「公開」不一定等於「任何用途都沒有限制」。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F222E"/>
                </a:solidFill>
              </a:rPr>
              <a:t>所以要看 LICENSE。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為什麼有人要做 Open Source？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606040"/>
            <a:ext cx="594360" cy="59436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分享工具與知識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228600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2606040"/>
            <a:ext cx="594360" cy="59436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26060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讓更多人一起改善軟體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228600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818120" y="2606040"/>
            <a:ext cx="594360" cy="594360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0" y="26060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建立作品集與技術影響力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480560"/>
            <a:ext cx="594360" cy="59436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805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66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學習大型專案的開發方式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23360" y="416052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4480560"/>
            <a:ext cx="594360" cy="59436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97680" y="44805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166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解決自己與社群共同的問題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開源專案如何合作？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97484" y="265176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8250D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7484" y="2706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使用者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7484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回報問題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772004" y="26517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28036" y="265176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0969D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28036" y="2706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28036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討論 / 修改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02556" y="26517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58588" y="265176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2DA4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58588" y="2706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58588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提交變更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26517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89140" y="265176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8250D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89140" y="2706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89140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163660" y="26517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19692" y="265176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2DA4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9692" y="2706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Maintainer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9692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0149840" cy="13716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20624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每一次貢獻，都是從「回報問題」到「共同解決」的完整循環。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Fork、Clone、Pull Request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F6F8FA"/>
          </a:solidFill>
          <a:ln/>
          <a:effectLst>
            <a:outerShdw blurRad="101600" dist="25400" dir="5400000" algn="bl" rotWithShape="0">
              <a:srgbClr val="1F23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514600"/>
            <a:ext cx="777240" cy="7772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37360" y="25146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GitHub 上複製別人的 Repository 到自己的帳號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95928" y="210312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F6F8FA"/>
          </a:solidFill>
          <a:ln/>
          <a:effectLst>
            <a:outerShdw blurRad="101600" dist="25400" dir="5400000" algn="bl" rotWithShape="0">
              <a:srgbClr val="1F232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30368" y="2514600"/>
            <a:ext cx="777240" cy="7772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84648" y="25146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995928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41148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Repository 下載到自己的電腦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43216" y="210312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F6F8FA"/>
          </a:solidFill>
          <a:ln/>
          <a:effectLst>
            <a:outerShdw blurRad="101600" dist="25400" dir="5400000" algn="bl" rotWithShape="0">
              <a:srgbClr val="1F232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77656" y="2514600"/>
            <a:ext cx="777240" cy="777240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31936" y="25146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443216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763256" y="41148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把你的修改提交給原專案，請維護者審查與合併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第一次貢獻：基本流程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00253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找一個適合新手的專案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07208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807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5234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閱讀 README 與 CONTRIBUTING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5021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Repository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3068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到本機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457200" cy="45720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5056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0176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建立新的 Branch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205740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5216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00253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修改內容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897880" y="2807208"/>
            <a:ext cx="457200" cy="45720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852160" y="2807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275234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並 Push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897880" y="3557016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35021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Pull Request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897880" y="4306824"/>
            <a:ext cx="457200" cy="45720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852160" y="43068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42519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 Review 意見修改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如何找適合新手的 Issue？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可以尋找標籤：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78024" cy="548640"/>
          </a:xfrm>
          <a:prstGeom prst="roundRect">
            <a:avLst>
              <a:gd name="adj" fmla="val 50000"/>
            </a:avLst>
          </a:prstGeom>
          <a:solidFill>
            <a:srgbClr val="F1E9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first issue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55264" y="2286000"/>
            <a:ext cx="2601468" cy="548640"/>
          </a:xfrm>
          <a:prstGeom prst="roundRect">
            <a:avLst>
              <a:gd name="adj" fmla="val 50000"/>
            </a:avLst>
          </a:prstGeom>
          <a:solidFill>
            <a:srgbClr val="DAFBE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55264" y="2286000"/>
            <a:ext cx="26014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beginner friendly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5332" y="2286000"/>
            <a:ext cx="1860804" cy="548640"/>
          </a:xfrm>
          <a:prstGeom prst="roundRect">
            <a:avLst>
              <a:gd name="adj" fmla="val 50000"/>
            </a:avLst>
          </a:prstGeom>
          <a:solidFill>
            <a:srgbClr val="DD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5332" y="2286000"/>
            <a:ext cx="1860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wanted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74736" y="2286000"/>
            <a:ext cx="2107692" cy="548640"/>
          </a:xfrm>
          <a:prstGeom prst="roundRect">
            <a:avLst>
              <a:gd name="adj" fmla="val 50000"/>
            </a:avLst>
          </a:prstGeom>
          <a:solidFill>
            <a:srgbClr val="F1E9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74736" y="2286000"/>
            <a:ext cx="21076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0149840" cy="21945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520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建議從小任務開始：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23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修正錯字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4023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改善文件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補充範例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更新說明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怎麼看？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新手先找這幾個部分：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6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409444"/>
            <a:ext cx="438912" cy="438912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40944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這個專案在做什麼？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228600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080760" y="2409444"/>
            <a:ext cx="438912" cy="438912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0" y="240944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2860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如何安裝？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6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278124"/>
            <a:ext cx="438912" cy="438912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27812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546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如何使用？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97880" y="315468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6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3278124"/>
            <a:ext cx="438912" cy="438912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327812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1546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如何參與開發？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6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46804"/>
            <a:ext cx="438912" cy="438912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14680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0233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有沒有 CONTRIBUTING.md？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897880" y="40233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6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0760" y="4146804"/>
            <a:ext cx="438912" cy="438912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35040" y="414680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0233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授權方式是什麼？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的基本禮儀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先閱讀文件與既有 Issue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7880" y="201168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228600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0116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不要一次提交過大的修改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66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2918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說明你做了什麼、為什麼這樣做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97880" y="32918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3566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2918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尊重 Maintainer 的 Review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846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5720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接受修改建議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97880" y="45720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484632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26480" y="4846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X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903720" y="45720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不要因為 PR 沒立刻被合併而重複催促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常見迷思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149840" cy="1298448"/>
          </a:xfrm>
          <a:prstGeom prst="roundRect">
            <a:avLst>
              <a:gd name="adj" fmla="val 8451"/>
            </a:avLst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63724"/>
            <a:ext cx="502920" cy="502920"/>
          </a:xfrm>
          <a:prstGeom prst="ellipse">
            <a:avLst/>
          </a:prstGeom>
          <a:solidFill>
            <a:srgbClr val="CF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6372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「我不是高手，不能參與開源」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877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可以，文件、測試、設計與回報問題都很重要。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10149840" cy="1298448"/>
          </a:xfrm>
          <a:prstGeom prst="roundRect">
            <a:avLst>
              <a:gd name="adj" fmla="val 8451"/>
            </a:avLst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799332"/>
            <a:ext cx="502920" cy="502920"/>
          </a:xfrm>
          <a:prstGeom prst="ellipse">
            <a:avLst/>
          </a:prstGeom>
          <a:solidFill>
            <a:srgbClr val="CF22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7993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53872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「Fork 就是在偷別人的程式碼」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0233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是 GitHub 提供的協作機制；仍須遵守專案授權。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7176"/>
            <a:ext cx="10149840" cy="1298448"/>
          </a:xfrm>
          <a:prstGeom prst="roundRect">
            <a:avLst>
              <a:gd name="adj" fmla="val 8451"/>
            </a:avLst>
          </a:prstGeom>
          <a:solidFill>
            <a:srgbClr val="F6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5234940"/>
            <a:ext cx="502920" cy="502920"/>
          </a:xfrm>
          <a:prstGeom prst="ellipse">
            <a:avLst/>
          </a:prstGeom>
          <a:solidFill>
            <a:srgbClr val="CF22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2349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7433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「PR 一定會被 Merge」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4589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不一定。Maintainer 可能要求修改或拒絕。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新手實作挑戰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965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11096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 1：建立自己的 GitHub Repository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560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05456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 2：新增 README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154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099816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 3：完成第一次 Commit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749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694176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 4：建立 Branch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343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88536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 5：修改內容並建立 Pull Request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0149840" cy="868680"/>
          </a:xfrm>
          <a:prstGeom prst="roundRect">
            <a:avLst>
              <a:gd name="adj" fmla="val 12632"/>
            </a:avLst>
          </a:prstGeom>
          <a:solidFill>
            <a:srgbClr val="F1E9F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321808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3218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16636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</a:t>
            </a: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親手走完一次完整協作流程。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18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重點整理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93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04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管理版本歷史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97880" y="192024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993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304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協作與託管平台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862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72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278892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862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172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變更紀錄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730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0416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獨立工作線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97880" y="365760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730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0416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問題與討論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599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910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提交修改，請求合併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97880" y="452628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4599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4910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公開協作，但須遵守授權與規範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18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建議學習順序：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15798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GitHub 帳號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06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26700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建立自己的第一個 Repository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18688"/>
            <a:ext cx="365760" cy="36576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31821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學會 Commit 與 Push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69417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學會 Branch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897880" y="2194560"/>
            <a:ext cx="365760" cy="36576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521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215798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學會 Pull Request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897880" y="270662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52160" y="2706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26700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找一個 good first issue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897880" y="3218688"/>
            <a:ext cx="365760" cy="36576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52160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28232" y="31821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完成第一次 Open Source Contribution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014984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257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18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開始的最好方式：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找一個小問題，實際動手修改。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常見的 LICENSE 類型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開源專案常見的授權條款，決定了他人能如何使用你的程式碼：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0000"/>
            <a:ext cx="10149840" cy="480000"/>
          </a:xfrm>
          <a:prstGeom prst="roundRect">
            <a:avLst>
              <a:gd name="adj" fmla="val 12121"/>
            </a:avLst>
          </a:prstGeom>
          <a:solidFill>
            <a:srgbClr val="F6F8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80000"/>
            <a:ext cx="5486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80000"/>
            <a:ext cx="23774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License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280000"/>
            <a:ext cx="64008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條款寬鬆，可自由使用、修改、商用，只需保留版權聲明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40000"/>
            <a:ext cx="10149840" cy="480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0000"/>
            <a:ext cx="5486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40000"/>
            <a:ext cx="23774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BSD License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840000"/>
            <a:ext cx="64008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寬鬆授權，與 MIT 相近，限制更少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00000"/>
            <a:ext cx="10149840" cy="480000"/>
          </a:xfrm>
          <a:prstGeom prst="roundRect">
            <a:avLst>
              <a:gd name="adj" fmla="val 12121"/>
            </a:avLst>
          </a:prstGeom>
          <a:solidFill>
            <a:srgbClr val="F6F8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400000"/>
            <a:ext cx="5486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400000"/>
            <a:ext cx="23774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License 2.0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400000"/>
            <a:ext cx="64008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類似 MIT，額外提供專利授權保護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60000"/>
            <a:ext cx="10149840" cy="4800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960000"/>
            <a:ext cx="5486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960000"/>
            <a:ext cx="23774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Creative Commons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960000"/>
            <a:ext cx="64008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CC，常用於文件、圖片、設計等非程式碼內容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520000"/>
            <a:ext cx="10149840" cy="480000"/>
          </a:xfrm>
          <a:prstGeom prst="roundRect">
            <a:avLst>
              <a:gd name="adj" fmla="val 12121"/>
            </a:avLst>
          </a:prstGeom>
          <a:solidFill>
            <a:srgbClr val="F6F8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520000"/>
            <a:ext cx="5486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520000"/>
            <a:ext cx="23774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GPL v3</a:t>
            </a:r>
            <a:endParaRPr lang="en-US" sz="1500" dirty="0"/>
          </a:p>
        </p:txBody>
      </p:sp>
      <p:sp>
        <p:nvSpPr>
          <p:cNvPr id="200" name="Shape Warning BG"/>
          <p:cNvSpPr/>
          <p:nvPr/>
        </p:nvSpPr>
        <p:spPr>
          <a:xfrm>
            <a:off x="548640" y="5100000"/>
            <a:ext cx="10149840" cy="750000"/>
          </a:xfrm>
          <a:prstGeom prst="roundRect">
            <a:avLst>
              <a:gd name="adj" fmla="val 8571"/>
            </a:avLst>
          </a:prstGeom>
          <a:solidFill>
            <a:srgbClr val="FFEBE9"/>
          </a:solidFill>
          <a:ln/>
        </p:spPr>
      </p:sp>
      <p:sp>
        <p:nvSpPr>
          <p:cNvPr id="201" name="Shape Warning Circle"/>
          <p:cNvSpPr/>
          <p:nvPr/>
        </p:nvSpPr>
        <p:spPr>
          <a:xfrm>
            <a:off x="868680" y="5285000"/>
            <a:ext cx="380000" cy="380000"/>
          </a:xfrm>
          <a:prstGeom prst="ellipse">
            <a:avLst/>
          </a:prstGeom>
          <a:solidFill>
            <a:srgbClr val="CF222E"/>
          </a:solidFill>
          <a:ln/>
        </p:spPr>
      </p:sp>
      <p:sp>
        <p:nvSpPr>
          <p:cNvPr id="202" name="Text Warning Mark"/>
          <p:cNvSpPr txBox="1"/>
          <p:nvPr/>
        </p:nvSpPr>
        <p:spPr>
          <a:xfrm>
            <a:off x="868680" y="5285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3" name="Text Warning Message"/>
          <p:cNvSpPr txBox="1"/>
          <p:nvPr/>
        </p:nvSpPr>
        <p:spPr>
          <a:xfrm>
            <a:off x="1417320" y="5100000"/>
            <a:ext cx="89124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使用他人程式碼前務必詳閱 LICENSE，</a:t>
            </a:r>
            <a:r>
              <a:rPr lang="en-US" sz="14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尤其是 GPL 等 Copyleft 授權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，若專案要商用或閉源，貿然整合可能會被要求公開你的原始碼。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4520000"/>
            <a:ext cx="64008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通用公共授權，衍生作品須以相同授權釋出（Copyleft）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Open Source 新手入門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寬螢幕</PresentationFormat>
  <Paragraphs>336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DCTUser</cp:lastModifiedBy>
  <cp:revision>2</cp:revision>
  <dcterms:created xsi:type="dcterms:W3CDTF">2026-08-28T10:39:10Z</dcterms:created>
  <dcterms:modified xsi:type="dcterms:W3CDTF">2026-09-01T09:11:00Z</dcterms:modified>
</cp:coreProperties>
</file>